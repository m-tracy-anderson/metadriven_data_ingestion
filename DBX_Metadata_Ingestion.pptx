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1"/>
  </p:notes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46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176" y="1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7234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F326D-16E4-3C24-5DE6-DFFF13E7B3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F6FD39-DF4A-30FB-0E1D-308CB5C206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0A87E-E327-9C5C-2AC1-EE3AA69AC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C041E-626C-BF47-83B9-ECB64B83EC2B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CBE2F-0D93-4771-5C45-D89796333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A74F8-DB6B-C336-DB09-9A735BFD4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F9E2-FCED-5A4C-A126-E8985D66E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08864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DB650-C429-3F32-CBA8-62DA923B4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61446-4A7E-941A-29AA-72F4A2CF8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74FFC-2E1D-46D7-3638-91B5477DD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C041E-626C-BF47-83B9-ECB64B83EC2B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0EB6F-973D-5CEF-063B-CB33E684C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2573E-02B1-3366-C830-D2DB320EB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F9E2-FCED-5A4C-A126-E8985D66E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26953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53A7A-9816-FA8C-839E-32915F06C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84944-CA05-D25A-1236-59B2F4E17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44431-E044-FB89-5DD1-21A39C1DF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C041E-626C-BF47-83B9-ECB64B83EC2B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A9AD4-B962-ED02-4196-D3B07AA96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7F134-8055-C25C-793A-C31A6736D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F9E2-FCED-5A4C-A126-E8985D66E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30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2CC5B-AE8F-6E62-9AA4-E1F612A18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3BB5C-2774-C688-0CBF-AFB6A1D7A8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F55FBE-1661-E771-910F-9CCF7A62E3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BB5A8-41DD-9422-AB18-F1296448E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C041E-626C-BF47-83B9-ECB64B83EC2B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31E91D-06D8-291A-3B37-768824734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CEE3F9-0E12-A9D0-C903-F6773718C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F9E2-FCED-5A4C-A126-E8985D66E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81239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B825B-EF1B-4282-0E32-A769D025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15D89-4552-EDA2-0EAD-1695FCBD8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449F67-DF31-916B-464D-2D94A5320B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79D10D-D5DC-9434-E1D6-E00A495DB9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8FDCCE-0F16-5CFC-F4CD-D338999E5D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3223C0-592E-9304-8A35-3E50871C1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C041E-626C-BF47-83B9-ECB64B83EC2B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D720E9-7B59-4386-C32A-A57B952AC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72307C-D9E9-435E-F5E9-38AB8DDA4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F9E2-FCED-5A4C-A126-E8985D66E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18239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9717D-AA05-6048-5EBB-6279FD71B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1AFCEB-3689-64B7-0BF7-CD635634E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C041E-626C-BF47-83B9-ECB64B83EC2B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C26918-F8F3-E52B-D5A1-4CC416BA9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2CCB01-5215-0DB0-E880-B315CBD1F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F9E2-FCED-5A4C-A126-E8985D66E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36089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3CFAAC-3AA1-0A40-8CFB-1B7D525A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C041E-626C-BF47-83B9-ECB64B83EC2B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D6339A-8FC1-C5CA-B150-887BE51FF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D428D-E8D4-7649-08C9-C04E4698A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F9E2-FCED-5A4C-A126-E8985D66E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67161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81747-07A3-D86E-93D2-0070D5606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9501C-6B4D-587D-961D-E25A8AF0B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754113-6765-00E1-C803-1E7E5B97F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FDF661-A887-0026-7B2D-5CBE09C16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C041E-626C-BF47-83B9-ECB64B83EC2B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D96DCD-8739-6B62-DD17-52AF4D178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6965CB-E6A2-4CD2-EC5B-7D0996105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F9E2-FCED-5A4C-A126-E8985D66E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49712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96B50-8C66-B37A-E7C2-2BE03B0B2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9826BD-B1F7-8ED0-D708-CC31C8CEE9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860FA-B225-970E-214E-15C746D193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92C47E-E9B0-2AF8-E0A7-467F8B47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C041E-626C-BF47-83B9-ECB64B83EC2B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D0B38-7887-40F1-710C-7164E3FD6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548D5F-A0F5-AF7E-065F-D248729E2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F9E2-FCED-5A4C-A126-E8985D66E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37304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2D3C3-7CFC-54EE-F526-A503E4B27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39882E-9D08-466F-CCFD-A43775426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F3280-9767-24A5-A0D1-22090E8C7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C041E-626C-BF47-83B9-ECB64B83EC2B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382C9-3E44-DECA-E7F0-2E577DB48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DE712-3B72-D16B-666B-5169A4DAA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F9E2-FCED-5A4C-A126-E8985D66E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85044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67C6DD-D785-777B-69EF-D188BF640E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9CAB4F-02AB-0BDA-81E5-39E280766C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AA41F-6289-2AEE-6E12-539118987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C041E-626C-BF47-83B9-ECB64B83EC2B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E341E-BF41-1195-C69E-63E7B8CAF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BCD3C-EAE9-184E-E29B-D5F93345A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F9E2-FCED-5A4C-A126-E8985D66E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85871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7095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7E2603-814E-F59E-9BEA-25EAC585F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4F2D3-878D-2815-B8F5-3F0EE9154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B3334-7CF0-BA56-AB2C-B3D0202E4E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5C041E-626C-BF47-83B9-ECB64B83EC2B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85771-D198-BF45-7259-BD7E8A55C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91364-05B6-0178-AD2C-9C90CE4BE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F3F9E2-FCED-5A4C-A126-E8985D66E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338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/home/claude/lovelytics_unpacked/ppt/media/image2.png">
            <a:extLst>
              <a:ext uri="{FF2B5EF4-FFF2-40B4-BE49-F238E27FC236}">
                <a16:creationId xmlns:a16="http://schemas.microsoft.com/office/drawing/2014/main" id="{AFC45976-17DD-5409-A0A5-C579AE446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7125"/>
            <a:ext cx="5120640" cy="4572000"/>
          </a:xfrm>
          <a:prstGeom prst="rect">
            <a:avLst/>
          </a:prstGeom>
        </p:spPr>
      </p:pic>
      <p:pic>
        <p:nvPicPr>
          <p:cNvPr id="3" name="Image 2" descr="/home/claude/lovelytics_unpacked/ppt/media/image15.png">
            <a:extLst>
              <a:ext uri="{FF2B5EF4-FFF2-40B4-BE49-F238E27FC236}">
                <a16:creationId xmlns:a16="http://schemas.microsoft.com/office/drawing/2014/main" id="{A800C6BA-CE2C-D131-0F2D-1E80AC539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806" y="743276"/>
            <a:ext cx="1828800" cy="327442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7A0C1052-5DAC-FE60-3AF2-6F76ECB68059}"/>
              </a:ext>
            </a:extLst>
          </p:cNvPr>
          <p:cNvSpPr/>
          <p:nvPr/>
        </p:nvSpPr>
        <p:spPr>
          <a:xfrm>
            <a:off x="5286103" y="101727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i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Ingestion</a:t>
            </a:r>
            <a:endParaRPr lang="en-US" sz="3400" dirty="0"/>
          </a:p>
          <a:p>
            <a:pPr marL="0" indent="0">
              <a:buNone/>
            </a:pPr>
            <a:r>
              <a:rPr lang="en-US" sz="3400" b="1" i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34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90D80C2-1D47-E9F8-0313-6F10F7E67D02}"/>
              </a:ext>
            </a:extLst>
          </p:cNvPr>
          <p:cNvSpPr/>
          <p:nvPr/>
        </p:nvSpPr>
        <p:spPr>
          <a:xfrm>
            <a:off x="5029200" y="3145971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Metadata-Driven Data Migration &amp; Ingestion</a:t>
            </a:r>
            <a:endParaRPr lang="en-US" sz="150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322DB34F-92C0-8232-638E-BA858B037912}"/>
              </a:ext>
            </a:extLst>
          </p:cNvPr>
          <p:cNvSpPr/>
          <p:nvPr/>
        </p:nvSpPr>
        <p:spPr>
          <a:xfrm>
            <a:off x="4981302" y="3810544"/>
            <a:ext cx="4023360" cy="631372"/>
          </a:xfrm>
          <a:prstGeom prst="rect">
            <a:avLst/>
          </a:prstGeom>
          <a:solidFill>
            <a:srgbClr val="156082"/>
          </a:solidFill>
          <a:ln w="6350">
            <a:solidFill>
              <a:srgbClr val="156082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config table · Five load patterns · Six connection types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582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velytics_unpacked/ppt/media/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pattFill prst="pct50">
            <a:fgClr>
              <a:srgbClr val="EEEEEE"/>
            </a:fgClr>
            <a:bgClr>
              <a:schemeClr val="bg1"/>
            </a:bgClr>
          </a:pattFill>
          <a:ln>
            <a:noFill/>
          </a:ln>
        </p:spPr>
      </p:pic>
      <p:pic>
        <p:nvPicPr>
          <p:cNvPr id="3" name="Image 1" descr="/home/claude/lovelytics_unpacked/ppt/media/image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64592"/>
            <a:ext cx="1691640" cy="4206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20040" y="164592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320040" y="73152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 and ingestion is complex, repetitive, and hard to scale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320040" y="1042416"/>
            <a:ext cx="8503920" cy="20117"/>
          </a:xfrm>
          <a:prstGeom prst="rect">
            <a:avLst/>
          </a:prstGeom>
          <a:solidFill>
            <a:srgbClr val="1DB89A"/>
          </a:solidFill>
          <a:ln w="12700">
            <a:solidFill>
              <a:srgbClr val="1D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356616" y="1207008"/>
            <a:ext cx="2816352" cy="3657600"/>
          </a:xfrm>
          <a:prstGeom prst="rect">
            <a:avLst/>
          </a:prstGeom>
          <a:solidFill>
            <a:srgbClr val="BBBBBB">
              <a:alpha val="35000"/>
            </a:srgbClr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320040" y="1170432"/>
            <a:ext cx="2816352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320040" y="1170432"/>
            <a:ext cx="54864" cy="3657600"/>
          </a:xfrm>
          <a:prstGeom prst="rect">
            <a:avLst/>
          </a:prstGeom>
          <a:solidFill>
            <a:srgbClr val="1DB89A"/>
          </a:solidFill>
          <a:ln w="12700">
            <a:solidFill>
              <a:srgbClr val="1D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325880"/>
            <a:ext cx="502920" cy="5029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29768" y="19202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Repetitive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429768" y="2377440"/>
            <a:ext cx="2606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hand-code ETL for every table. Hundreds of pipelines, each slightly different — hard to maintain and impossible to scale.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3300984" y="1207008"/>
            <a:ext cx="2816352" cy="3657600"/>
          </a:xfrm>
          <a:prstGeom prst="rect">
            <a:avLst/>
          </a:prstGeom>
          <a:solidFill>
            <a:srgbClr val="BBBBBB">
              <a:alpha val="35000"/>
            </a:srgbClr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3264408" y="1170432"/>
            <a:ext cx="2816352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3264408" y="1170432"/>
            <a:ext cx="54864" cy="3657600"/>
          </a:xfrm>
          <a:prstGeom prst="rect">
            <a:avLst/>
          </a:prstGeom>
          <a:solidFill>
            <a:srgbClr val="1DB89A"/>
          </a:solidFill>
          <a:ln w="12700">
            <a:solidFill>
              <a:srgbClr val="1D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1568" y="132588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374136" y="19202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Connections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3374136" y="2377440"/>
            <a:ext cx="2606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source system has its own connection pattern, credentials, and tooling. No standard way to add a new source without writing new code.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245352" y="1207008"/>
            <a:ext cx="2816352" cy="3657600"/>
          </a:xfrm>
          <a:prstGeom prst="rect">
            <a:avLst/>
          </a:prstGeom>
          <a:solidFill>
            <a:srgbClr val="BBBBBB">
              <a:alpha val="35000"/>
            </a:srgbClr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6208776" y="1170432"/>
            <a:ext cx="2816352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6208776" y="1170432"/>
            <a:ext cx="54864" cy="3657600"/>
          </a:xfrm>
          <a:prstGeom prst="rect">
            <a:avLst/>
          </a:prstGeom>
          <a:solidFill>
            <a:srgbClr val="1DB89A"/>
          </a:solidFill>
          <a:ln w="12700">
            <a:solidFill>
              <a:srgbClr val="1D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5936" y="1325880"/>
            <a:ext cx="502920" cy="5029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318504" y="19202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Observability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6318504" y="2377440"/>
            <a:ext cx="2606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central control plane, tracking what loaded, when, how many rows, and why something failed requires digging through log files.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0" y="4974336"/>
            <a:ext cx="6858000" cy="169164"/>
          </a:xfrm>
          <a:prstGeom prst="rect">
            <a:avLst/>
          </a:prstGeom>
          <a:solidFill>
            <a:srgbClr val="1DB89A"/>
          </a:solidFill>
          <a:ln w="12700">
            <a:solidFill>
              <a:srgbClr val="1D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6858000" y="4974336"/>
            <a:ext cx="2286000" cy="169164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0"/>
          <p:cNvSpPr/>
          <p:nvPr/>
        </p:nvSpPr>
        <p:spPr>
          <a:xfrm>
            <a:off x="109728" y="4974336"/>
            <a:ext cx="3200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velytics_unpacked/ppt/media/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50"/>
            <a:ext cx="9144000" cy="5143500"/>
          </a:xfrm>
          <a:prstGeom prst="rect">
            <a:avLst/>
          </a:prstGeom>
          <a:noFill/>
        </p:spPr>
      </p:pic>
      <p:pic>
        <p:nvPicPr>
          <p:cNvPr id="3" name="Image 1" descr="/home/claude/lovelytics_unpacked/ppt/media/image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64592"/>
            <a:ext cx="1691640" cy="3291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20040" y="164592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320040" y="73152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config table drives everything — no code changes to add tables, schemas, or source systems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320040" y="1042416"/>
            <a:ext cx="8503920" cy="20117"/>
          </a:xfrm>
          <a:prstGeom prst="rect">
            <a:avLst/>
          </a:prstGeom>
          <a:solidFill>
            <a:srgbClr val="1DB89A"/>
          </a:solidFill>
          <a:ln w="12700">
            <a:solidFill>
              <a:srgbClr val="1D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3246120" y="1417320"/>
            <a:ext cx="2651760" cy="658368"/>
          </a:xfrm>
          <a:prstGeom prst="rect">
            <a:avLst/>
          </a:prstGeom>
          <a:solidFill>
            <a:srgbClr val="156082"/>
          </a:solidFill>
          <a:ln w="25400">
            <a:solidFill>
              <a:srgbClr val="1D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3246120" y="14173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table_migration_config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10896" y="1362456"/>
            <a:ext cx="2697480" cy="1600200"/>
          </a:xfrm>
          <a:prstGeom prst="rect">
            <a:avLst/>
          </a:prstGeom>
          <a:solidFill>
            <a:srgbClr val="BBBBBB">
              <a:alpha val="35000"/>
            </a:srgbClr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274320" y="1325880"/>
            <a:ext cx="26974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274320" y="1325880"/>
            <a:ext cx="54864" cy="1600200"/>
          </a:xfrm>
          <a:prstGeom prst="rect">
            <a:avLst/>
          </a:prstGeom>
          <a:solidFill>
            <a:srgbClr val="1DB89A"/>
          </a:solidFill>
          <a:ln w="12700">
            <a:solidFill>
              <a:srgbClr val="1D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384048" y="141732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patterns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84048" y="1828800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overwrite · merge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· copy_into · autoloader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54496" y="1362456"/>
            <a:ext cx="2697480" cy="1600200"/>
          </a:xfrm>
          <a:prstGeom prst="rect">
            <a:avLst/>
          </a:prstGeom>
          <a:solidFill>
            <a:srgbClr val="BBBBBB">
              <a:alpha val="35000"/>
            </a:srgbClr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217920" y="1325880"/>
            <a:ext cx="26974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217920" y="1325880"/>
            <a:ext cx="54864" cy="1600200"/>
          </a:xfrm>
          <a:prstGeom prst="rect">
            <a:avLst/>
          </a:prstGeom>
          <a:solidFill>
            <a:srgbClr val="1DB89A"/>
          </a:solidFill>
          <a:ln w="12700">
            <a:solidFill>
              <a:srgbClr val="1D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327648" y="141732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327648" y="1828800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· Airflow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· any trigger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10896" y="2825496"/>
            <a:ext cx="2697480" cy="1600200"/>
          </a:xfrm>
          <a:prstGeom prst="rect">
            <a:avLst/>
          </a:prstGeom>
          <a:solidFill>
            <a:srgbClr val="BBBBBB">
              <a:alpha val="35000"/>
            </a:srgbClr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274320" y="2788920"/>
            <a:ext cx="26974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274320" y="2788920"/>
            <a:ext cx="54864" cy="1600200"/>
          </a:xfrm>
          <a:prstGeom prst="rect">
            <a:avLst/>
          </a:prstGeom>
          <a:solidFill>
            <a:srgbClr val="1DB89A"/>
          </a:solidFill>
          <a:ln w="12700">
            <a:solidFill>
              <a:srgbClr val="1D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384048" y="288036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registry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384048" y="3291840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catalog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· Volume · ADLS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254496" y="2825496"/>
            <a:ext cx="2697480" cy="1600200"/>
          </a:xfrm>
          <a:prstGeom prst="rect">
            <a:avLst/>
          </a:prstGeom>
          <a:solidFill>
            <a:srgbClr val="BBBBBB">
              <a:alpha val="35000"/>
            </a:srgbClr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6217920" y="2788920"/>
            <a:ext cx="26974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6217920" y="2788920"/>
            <a:ext cx="54864" cy="1600200"/>
          </a:xfrm>
          <a:prstGeom prst="rect">
            <a:avLst/>
          </a:prstGeom>
          <a:solidFill>
            <a:srgbClr val="1DB89A"/>
          </a:solidFill>
          <a:ln w="12700">
            <a:solidFill>
              <a:srgbClr val="1D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6327648" y="288036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6327648" y="3291840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counts · watermarks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messages · status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2971800" y="1755648"/>
            <a:ext cx="274320" cy="0"/>
          </a:xfrm>
          <a:prstGeom prst="line">
            <a:avLst/>
          </a:prstGeom>
          <a:noFill/>
          <a:ln w="19050">
            <a:solidFill>
              <a:srgbClr val="15608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5943600" y="1755648"/>
            <a:ext cx="274320" cy="0"/>
          </a:xfrm>
          <a:prstGeom prst="line">
            <a:avLst/>
          </a:prstGeom>
          <a:noFill/>
          <a:ln w="19050">
            <a:solidFill>
              <a:srgbClr val="15608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2971800" y="3273552"/>
            <a:ext cx="274320" cy="0"/>
          </a:xfrm>
          <a:prstGeom prst="line">
            <a:avLst/>
          </a:prstGeom>
          <a:noFill/>
          <a:ln w="19050">
            <a:solidFill>
              <a:srgbClr val="15608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5943600" y="3273552"/>
            <a:ext cx="274320" cy="0"/>
          </a:xfrm>
          <a:prstGeom prst="line">
            <a:avLst/>
          </a:prstGeom>
          <a:noFill/>
          <a:ln w="19050">
            <a:solidFill>
              <a:srgbClr val="15608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371600" y="46634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any table, any source — no code changes. Just INSERT.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0" y="4974336"/>
            <a:ext cx="6858000" cy="169164"/>
          </a:xfrm>
          <a:prstGeom prst="rect">
            <a:avLst/>
          </a:prstGeom>
          <a:solidFill>
            <a:srgbClr val="1DB89A"/>
          </a:solidFill>
          <a:ln w="12700">
            <a:solidFill>
              <a:srgbClr val="1D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6858000" y="4974336"/>
            <a:ext cx="2286000" cy="169164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109728" y="4974336"/>
            <a:ext cx="3200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velytics_unpacked/ppt/media/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home/claude/lovelytics_unpacked/ppt/media/image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64592"/>
            <a:ext cx="1691640" cy="306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20040" y="164592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Load Patterns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320040" y="73152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dispatcher notebook routes every table to the correct pattern at runtime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320040" y="1042416"/>
            <a:ext cx="8503920" cy="20117"/>
          </a:xfrm>
          <a:prstGeom prst="rect">
            <a:avLst/>
          </a:prstGeom>
          <a:solidFill>
            <a:srgbClr val="1DB89A"/>
          </a:solidFill>
          <a:ln w="12700">
            <a:solidFill>
              <a:srgbClr val="1D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356616" y="1225296"/>
            <a:ext cx="8503920" cy="658368"/>
          </a:xfrm>
          <a:prstGeom prst="rect">
            <a:avLst/>
          </a:prstGeom>
          <a:solidFill>
            <a:srgbClr val="BBBBBB">
              <a:alpha val="35000"/>
            </a:srgbClr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320040" y="1188720"/>
            <a:ext cx="8503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320040" y="1188720"/>
            <a:ext cx="54864" cy="658368"/>
          </a:xfrm>
          <a:prstGeom prst="rect">
            <a:avLst/>
          </a:prstGeom>
          <a:solidFill>
            <a:srgbClr val="1DB89A"/>
          </a:solidFill>
          <a:ln w="12700">
            <a:solidFill>
              <a:srgbClr val="1D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1298448"/>
            <a:ext cx="420624" cy="4206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960120" y="1307592"/>
            <a:ext cx="1298448" cy="420624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960120" y="1307592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overwrite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2350008" y="1307592"/>
            <a:ext cx="1051560" cy="420624"/>
          </a:xfrm>
          <a:prstGeom prst="rect">
            <a:avLst/>
          </a:prstGeom>
          <a:solidFill>
            <a:srgbClr val="F0F0F0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2350008" y="130759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520440" y="1307592"/>
            <a:ext cx="5166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reload every run. Reference tables and first-time loads.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356616" y="1975104"/>
            <a:ext cx="8503920" cy="658368"/>
          </a:xfrm>
          <a:prstGeom prst="rect">
            <a:avLst/>
          </a:prstGeom>
          <a:solidFill>
            <a:srgbClr val="BBBBBB">
              <a:alpha val="35000"/>
            </a:srgbClr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320040" y="1938528"/>
            <a:ext cx="8503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320040" y="1938528"/>
            <a:ext cx="54864" cy="658368"/>
          </a:xfrm>
          <a:prstGeom prst="rect">
            <a:avLst/>
          </a:prstGeom>
          <a:solidFill>
            <a:srgbClr val="1DB89A"/>
          </a:solidFill>
          <a:ln w="12700">
            <a:solidFill>
              <a:srgbClr val="1D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2048256"/>
            <a:ext cx="420624" cy="42062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60120" y="2057400"/>
            <a:ext cx="1298448" cy="420624"/>
          </a:xfrm>
          <a:prstGeom prst="rect">
            <a:avLst/>
          </a:prstGeom>
          <a:solidFill>
            <a:srgbClr val="1DB89A"/>
          </a:solidFill>
          <a:ln w="12700">
            <a:solidFill>
              <a:srgbClr val="1D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960120" y="2057400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2350008" y="2057400"/>
            <a:ext cx="1051560" cy="420624"/>
          </a:xfrm>
          <a:prstGeom prst="rect">
            <a:avLst/>
          </a:prstGeom>
          <a:solidFill>
            <a:srgbClr val="F0F0F0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2350008" y="20574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3520440" y="2057400"/>
            <a:ext cx="5166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Watermark-based. Reads only changed rows and merges on primary key.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356616" y="2724912"/>
            <a:ext cx="8503920" cy="658368"/>
          </a:xfrm>
          <a:prstGeom prst="rect">
            <a:avLst/>
          </a:prstGeom>
          <a:solidFill>
            <a:srgbClr val="BBBBBB">
              <a:alpha val="35000"/>
            </a:srgbClr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320040" y="2688336"/>
            <a:ext cx="8503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320040" y="2688336"/>
            <a:ext cx="54864" cy="658368"/>
          </a:xfrm>
          <a:prstGeom prst="rect">
            <a:avLst/>
          </a:prstGeom>
          <a:solidFill>
            <a:srgbClr val="1DB89A"/>
          </a:solidFill>
          <a:ln w="12700">
            <a:solidFill>
              <a:srgbClr val="1D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" y="2798064"/>
            <a:ext cx="420624" cy="420624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960120" y="2807208"/>
            <a:ext cx="1298448" cy="420624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/>
          <p:nvPr/>
        </p:nvSpPr>
        <p:spPr>
          <a:xfrm>
            <a:off x="960120" y="2807208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2350008" y="2807208"/>
            <a:ext cx="1051560" cy="420624"/>
          </a:xfrm>
          <a:prstGeom prst="rect">
            <a:avLst/>
          </a:prstGeom>
          <a:solidFill>
            <a:srgbClr val="F0F0F0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2350008" y="280720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3520440" y="2807208"/>
            <a:ext cx="5166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Insert-only sources. Audit logs, event tables.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356616" y="3474720"/>
            <a:ext cx="8503920" cy="658368"/>
          </a:xfrm>
          <a:prstGeom prst="rect">
            <a:avLst/>
          </a:prstGeom>
          <a:solidFill>
            <a:srgbClr val="BBBBBB">
              <a:alpha val="35000"/>
            </a:srgbClr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320040" y="3438144"/>
            <a:ext cx="8503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320040" y="3438144"/>
            <a:ext cx="54864" cy="658368"/>
          </a:xfrm>
          <a:prstGeom prst="rect">
            <a:avLst/>
          </a:prstGeom>
          <a:solidFill>
            <a:srgbClr val="1DB89A"/>
          </a:solidFill>
          <a:ln w="12700">
            <a:solidFill>
              <a:srgbClr val="1D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768" y="3547872"/>
            <a:ext cx="420624" cy="420624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960120" y="3557016"/>
            <a:ext cx="1298448" cy="420624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1"/>
          <p:cNvSpPr/>
          <p:nvPr/>
        </p:nvSpPr>
        <p:spPr>
          <a:xfrm>
            <a:off x="960120" y="3557016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copy_into</a:t>
            </a:r>
            <a:endParaRPr lang="en-US" sz="1300" dirty="0"/>
          </a:p>
        </p:txBody>
      </p:sp>
      <p:sp>
        <p:nvSpPr>
          <p:cNvPr id="40" name="Shape 32"/>
          <p:cNvSpPr/>
          <p:nvPr/>
        </p:nvSpPr>
        <p:spPr>
          <a:xfrm>
            <a:off x="2350008" y="3557016"/>
            <a:ext cx="1051560" cy="420624"/>
          </a:xfrm>
          <a:prstGeom prst="rect">
            <a:avLst/>
          </a:prstGeom>
          <a:solidFill>
            <a:srgbClr val="F0F0F0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3"/>
          <p:cNvSpPr/>
          <p:nvPr/>
        </p:nvSpPr>
        <p:spPr>
          <a:xfrm>
            <a:off x="2350008" y="355701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3520440" y="3557016"/>
            <a:ext cx="5166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files from ADLS or UC Volume → Delta Lake.</a:t>
            </a:r>
            <a:endParaRPr lang="en-US" sz="1200" dirty="0"/>
          </a:p>
        </p:txBody>
      </p:sp>
      <p:sp>
        <p:nvSpPr>
          <p:cNvPr id="43" name="Shape 35"/>
          <p:cNvSpPr/>
          <p:nvPr/>
        </p:nvSpPr>
        <p:spPr>
          <a:xfrm>
            <a:off x="356616" y="4224528"/>
            <a:ext cx="8503920" cy="658368"/>
          </a:xfrm>
          <a:prstGeom prst="rect">
            <a:avLst/>
          </a:prstGeom>
          <a:solidFill>
            <a:srgbClr val="BBBBBB">
              <a:alpha val="35000"/>
            </a:srgbClr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6"/>
          <p:cNvSpPr/>
          <p:nvPr/>
        </p:nvSpPr>
        <p:spPr>
          <a:xfrm>
            <a:off x="320040" y="4187952"/>
            <a:ext cx="8503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7"/>
          <p:cNvSpPr/>
          <p:nvPr/>
        </p:nvSpPr>
        <p:spPr>
          <a:xfrm>
            <a:off x="320040" y="4187952"/>
            <a:ext cx="54864" cy="658368"/>
          </a:xfrm>
          <a:prstGeom prst="rect">
            <a:avLst/>
          </a:prstGeom>
          <a:solidFill>
            <a:srgbClr val="1DB89A"/>
          </a:solidFill>
          <a:ln w="12700">
            <a:solidFill>
              <a:srgbClr val="1D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768" y="4297680"/>
            <a:ext cx="420624" cy="420624"/>
          </a:xfrm>
          <a:prstGeom prst="rect">
            <a:avLst/>
          </a:prstGeom>
        </p:spPr>
      </p:pic>
      <p:sp>
        <p:nvSpPr>
          <p:cNvPr id="47" name="Shape 38"/>
          <p:cNvSpPr/>
          <p:nvPr/>
        </p:nvSpPr>
        <p:spPr>
          <a:xfrm>
            <a:off x="960120" y="4306824"/>
            <a:ext cx="1298448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39"/>
          <p:cNvSpPr/>
          <p:nvPr/>
        </p:nvSpPr>
        <p:spPr>
          <a:xfrm>
            <a:off x="960120" y="4306824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autoloader</a:t>
            </a:r>
            <a:endParaRPr lang="en-US" sz="1300" dirty="0"/>
          </a:p>
        </p:txBody>
      </p:sp>
      <p:sp>
        <p:nvSpPr>
          <p:cNvPr id="49" name="Shape 40"/>
          <p:cNvSpPr/>
          <p:nvPr/>
        </p:nvSpPr>
        <p:spPr>
          <a:xfrm>
            <a:off x="2350008" y="4306824"/>
            <a:ext cx="1051560" cy="420624"/>
          </a:xfrm>
          <a:prstGeom prst="rect">
            <a:avLst/>
          </a:prstGeom>
          <a:solidFill>
            <a:srgbClr val="F0F0F0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1"/>
          <p:cNvSpPr/>
          <p:nvPr/>
        </p:nvSpPr>
        <p:spPr>
          <a:xfrm>
            <a:off x="2350008" y="430682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</a:t>
            </a:r>
            <a:endParaRPr lang="en-US" sz="1200" dirty="0"/>
          </a:p>
        </p:txBody>
      </p:sp>
      <p:sp>
        <p:nvSpPr>
          <p:cNvPr id="51" name="Text 42"/>
          <p:cNvSpPr/>
          <p:nvPr/>
        </p:nvSpPr>
        <p:spPr>
          <a:xfrm>
            <a:off x="3520440" y="4306824"/>
            <a:ext cx="5166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monitors a folder for new files. CSV, JSON, or Parquet.</a:t>
            </a:r>
            <a:endParaRPr lang="en-US" sz="1200" dirty="0"/>
          </a:p>
        </p:txBody>
      </p:sp>
      <p:sp>
        <p:nvSpPr>
          <p:cNvPr id="52" name="Shape 43"/>
          <p:cNvSpPr/>
          <p:nvPr/>
        </p:nvSpPr>
        <p:spPr>
          <a:xfrm>
            <a:off x="0" y="4974336"/>
            <a:ext cx="6858000" cy="169164"/>
          </a:xfrm>
          <a:prstGeom prst="rect">
            <a:avLst/>
          </a:prstGeom>
          <a:solidFill>
            <a:srgbClr val="1DB89A"/>
          </a:solidFill>
          <a:ln w="12700">
            <a:solidFill>
              <a:srgbClr val="1D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4"/>
          <p:cNvSpPr/>
          <p:nvPr/>
        </p:nvSpPr>
        <p:spPr>
          <a:xfrm>
            <a:off x="6858000" y="4974336"/>
            <a:ext cx="2286000" cy="169164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5"/>
          <p:cNvSpPr/>
          <p:nvPr/>
        </p:nvSpPr>
        <p:spPr>
          <a:xfrm>
            <a:off x="109728" y="4974336"/>
            <a:ext cx="3200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velytics_unpacked/ppt/media/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home/claude/lovelytics_unpacked/ppt/media/image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64592"/>
            <a:ext cx="1691640" cy="4206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20040" y="164592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Connection Types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320040" y="73152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systems registered once in a connection registry — no credentials in notebooks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320040" y="1042416"/>
            <a:ext cx="8503920" cy="20117"/>
          </a:xfrm>
          <a:prstGeom prst="rect">
            <a:avLst/>
          </a:prstGeom>
          <a:solidFill>
            <a:srgbClr val="1DB89A"/>
          </a:solidFill>
          <a:ln w="12700">
            <a:solidFill>
              <a:srgbClr val="1D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356616" y="1207008"/>
            <a:ext cx="4251960" cy="1152144"/>
          </a:xfrm>
          <a:prstGeom prst="rect">
            <a:avLst/>
          </a:prstGeom>
          <a:solidFill>
            <a:srgbClr val="BBBBBB">
              <a:alpha val="35000"/>
            </a:srgbClr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320040" y="1170432"/>
            <a:ext cx="4251960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320040" y="1170432"/>
            <a:ext cx="54864" cy="1152144"/>
          </a:xfrm>
          <a:prstGeom prst="rect">
            <a:avLst/>
          </a:prstGeom>
          <a:solidFill>
            <a:srgbClr val="1DB89A"/>
          </a:solidFill>
          <a:ln w="12700">
            <a:solidFill>
              <a:srgbClr val="1D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1371600"/>
            <a:ext cx="475488" cy="4754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1225296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Catalog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1005840" y="1572768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· SQL Server · PostgreSQL · MySQL · Salesforce · Redshift · BigQuery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005840" y="193852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native — no credentials in code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809744" y="1207008"/>
            <a:ext cx="4251960" cy="1152144"/>
          </a:xfrm>
          <a:prstGeom prst="rect">
            <a:avLst/>
          </a:prstGeom>
          <a:solidFill>
            <a:srgbClr val="BBBBBB">
              <a:alpha val="35000"/>
            </a:srgbClr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4773168" y="1170432"/>
            <a:ext cx="4251960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4773168" y="1170432"/>
            <a:ext cx="54864" cy="1152144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896" y="1371600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58968" y="1225296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458968" y="1572768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· Teradata · SAP · any JDBC-compatible database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58968" y="193852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template + driver class in registry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356616" y="2468880"/>
            <a:ext cx="4251960" cy="1152144"/>
          </a:xfrm>
          <a:prstGeom prst="rect">
            <a:avLst/>
          </a:prstGeom>
          <a:solidFill>
            <a:srgbClr val="BBBBBB">
              <a:alpha val="35000"/>
            </a:srgbClr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320040" y="2432304"/>
            <a:ext cx="4251960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320040" y="2432304"/>
            <a:ext cx="54864" cy="1152144"/>
          </a:xfrm>
          <a:prstGeom prst="rect">
            <a:avLst/>
          </a:prstGeom>
          <a:solidFill>
            <a:srgbClr val="1DB89A"/>
          </a:solidFill>
          <a:ln w="12700">
            <a:solidFill>
              <a:srgbClr val="1D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" y="2633472"/>
            <a:ext cx="475488" cy="47548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05840" y="2487168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Volume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1005840" y="2834640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· JSON · Parquet files in Unity Catalog managed storage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1005840" y="3200400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storage config needed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4809744" y="2468880"/>
            <a:ext cx="4251960" cy="1152144"/>
          </a:xfrm>
          <a:prstGeom prst="rect">
            <a:avLst/>
          </a:prstGeom>
          <a:solidFill>
            <a:srgbClr val="BBBBBB">
              <a:alpha val="35000"/>
            </a:srgbClr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4773168" y="2432304"/>
            <a:ext cx="4251960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4773168" y="2432304"/>
            <a:ext cx="54864" cy="1152144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2896" y="2633472"/>
            <a:ext cx="475488" cy="4754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458968" y="2487168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ADLS Blob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5458968" y="2834640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Parquet exports · ADF / Airflow file handoffs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5458968" y="3200400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abfss:// path, Azure native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356616" y="3730752"/>
            <a:ext cx="4251960" cy="1152144"/>
          </a:xfrm>
          <a:prstGeom prst="rect">
            <a:avLst/>
          </a:prstGeom>
          <a:solidFill>
            <a:srgbClr val="BBBBBB">
              <a:alpha val="35000"/>
            </a:srgbClr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8"/>
          <p:cNvSpPr/>
          <p:nvPr/>
        </p:nvSpPr>
        <p:spPr>
          <a:xfrm>
            <a:off x="320040" y="3694176"/>
            <a:ext cx="4251960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9"/>
          <p:cNvSpPr/>
          <p:nvPr/>
        </p:nvSpPr>
        <p:spPr>
          <a:xfrm>
            <a:off x="320040" y="3694176"/>
            <a:ext cx="54864" cy="1152144"/>
          </a:xfrm>
          <a:prstGeom prst="rect">
            <a:avLst/>
          </a:prstGeom>
          <a:solidFill>
            <a:srgbClr val="1DB89A"/>
          </a:solidFill>
          <a:ln w="12700">
            <a:solidFill>
              <a:srgbClr val="1D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768" y="3895344"/>
            <a:ext cx="475488" cy="47548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005840" y="3749040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Direct</a:t>
            </a:r>
            <a:endParaRPr lang="en-US" sz="1400" dirty="0"/>
          </a:p>
        </p:txBody>
      </p:sp>
      <p:sp>
        <p:nvSpPr>
          <p:cNvPr id="40" name="Text 31"/>
          <p:cNvSpPr/>
          <p:nvPr/>
        </p:nvSpPr>
        <p:spPr>
          <a:xfrm>
            <a:off x="1005840" y="4096512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Delta tables in Unity Catalog</a:t>
            </a:r>
            <a:endParaRPr lang="en-US" sz="1000" dirty="0"/>
          </a:p>
        </p:txBody>
      </p:sp>
      <p:sp>
        <p:nvSpPr>
          <p:cNvPr id="41" name="Text 32"/>
          <p:cNvSpPr/>
          <p:nvPr/>
        </p:nvSpPr>
        <p:spPr>
          <a:xfrm>
            <a:off x="1005840" y="4462272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Cross-workspace, cross-schema reads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4809744" y="3730752"/>
            <a:ext cx="4251960" cy="1152144"/>
          </a:xfrm>
          <a:prstGeom prst="rect">
            <a:avLst/>
          </a:prstGeom>
          <a:solidFill>
            <a:srgbClr val="BBBBBB">
              <a:alpha val="35000"/>
            </a:srgbClr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4"/>
          <p:cNvSpPr/>
          <p:nvPr/>
        </p:nvSpPr>
        <p:spPr>
          <a:xfrm>
            <a:off x="4773168" y="3694176"/>
            <a:ext cx="4251960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5"/>
          <p:cNvSpPr/>
          <p:nvPr/>
        </p:nvSpPr>
        <p:spPr>
          <a:xfrm>
            <a:off x="4773168" y="3694176"/>
            <a:ext cx="54864" cy="1152144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82896" y="3895344"/>
            <a:ext cx="475488" cy="475488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5458968" y="3749040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Multi-instance</a:t>
            </a:r>
            <a:endParaRPr lang="en-US" sz="1400" dirty="0"/>
          </a:p>
        </p:txBody>
      </p:sp>
      <p:sp>
        <p:nvSpPr>
          <p:cNvPr id="47" name="Text 37"/>
          <p:cNvSpPr/>
          <p:nvPr/>
        </p:nvSpPr>
        <p:spPr>
          <a:xfrm>
            <a:off x="5458968" y="4096512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mssql_crm + mssql_finance · sfdc_prod + sfdc_sandbox</a:t>
            </a:r>
            <a:endParaRPr lang="en-US" sz="1000" dirty="0"/>
          </a:p>
        </p:txBody>
      </p:sp>
      <p:sp>
        <p:nvSpPr>
          <p:cNvPr id="48" name="Text 38"/>
          <p:cNvSpPr/>
          <p:nvPr/>
        </p:nvSpPr>
        <p:spPr>
          <a:xfrm>
            <a:off x="5458968" y="4462272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instance = one registry row</a:t>
            </a:r>
            <a:endParaRPr lang="en-US" sz="1000" dirty="0"/>
          </a:p>
        </p:txBody>
      </p:sp>
      <p:sp>
        <p:nvSpPr>
          <p:cNvPr id="49" name="Shape 39"/>
          <p:cNvSpPr/>
          <p:nvPr/>
        </p:nvSpPr>
        <p:spPr>
          <a:xfrm>
            <a:off x="0" y="4974336"/>
            <a:ext cx="6858000" cy="169164"/>
          </a:xfrm>
          <a:prstGeom prst="rect">
            <a:avLst/>
          </a:prstGeom>
          <a:solidFill>
            <a:srgbClr val="1DB89A"/>
          </a:solidFill>
          <a:ln w="12700">
            <a:solidFill>
              <a:srgbClr val="1D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0"/>
          <p:cNvSpPr/>
          <p:nvPr/>
        </p:nvSpPr>
        <p:spPr>
          <a:xfrm>
            <a:off x="6858000" y="4974336"/>
            <a:ext cx="2286000" cy="169164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1"/>
          <p:cNvSpPr/>
          <p:nvPr/>
        </p:nvSpPr>
        <p:spPr>
          <a:xfrm>
            <a:off x="109728" y="4974336"/>
            <a:ext cx="3200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velytics_unpacked/ppt/media/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home/claude/lovelytics_unpacked/ppt/media/image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64592"/>
            <a:ext cx="1691640" cy="4206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20040" y="164592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320040" y="73152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Three-task Databricks Workflow per process group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320040" y="1042416"/>
            <a:ext cx="8503920" cy="20117"/>
          </a:xfrm>
          <a:prstGeom prst="rect">
            <a:avLst/>
          </a:prstGeom>
          <a:solidFill>
            <a:srgbClr val="1DB89A"/>
          </a:solidFill>
          <a:ln w="12700">
            <a:solidFill>
              <a:srgbClr val="1D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356616" y="1207008"/>
            <a:ext cx="2816352" cy="3611880"/>
          </a:xfrm>
          <a:prstGeom prst="rect">
            <a:avLst/>
          </a:prstGeom>
          <a:solidFill>
            <a:srgbClr val="BBBBBB">
              <a:alpha val="35000"/>
            </a:srgbClr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320040" y="1170432"/>
            <a:ext cx="2816352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320040" y="1170432"/>
            <a:ext cx="54864" cy="361188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1280160" y="1298448"/>
            <a:ext cx="868680" cy="86868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1280160" y="129844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429768" y="226771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Init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29768" y="2724912"/>
            <a:ext cx="2606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config rows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connection registry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tables RUNNING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by priority tier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300984" y="1207008"/>
            <a:ext cx="2816352" cy="3611880"/>
          </a:xfrm>
          <a:prstGeom prst="rect">
            <a:avLst/>
          </a:prstGeom>
          <a:solidFill>
            <a:srgbClr val="BBBBBB">
              <a:alpha val="35000"/>
            </a:srgbClr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3264408" y="1170432"/>
            <a:ext cx="2816352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264408" y="1170432"/>
            <a:ext cx="54864" cy="3611880"/>
          </a:xfrm>
          <a:prstGeom prst="rect">
            <a:avLst/>
          </a:prstGeom>
          <a:solidFill>
            <a:srgbClr val="1DB89A"/>
          </a:solidFill>
          <a:ln w="12700">
            <a:solidFill>
              <a:srgbClr val="1D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224528" y="1298448"/>
            <a:ext cx="868680" cy="868680"/>
          </a:xfrm>
          <a:prstGeom prst="rect">
            <a:avLst/>
          </a:prstGeom>
          <a:solidFill>
            <a:srgbClr val="1DB89A"/>
          </a:solidFill>
          <a:ln w="12700">
            <a:solidFill>
              <a:srgbClr val="1D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224528" y="129844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3374136" y="226771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3374136" y="2724912"/>
            <a:ext cx="2606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parallel execution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across priority tiers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by load_mode + source_type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Autoloader as child notebook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245352" y="1207008"/>
            <a:ext cx="2816352" cy="3611880"/>
          </a:xfrm>
          <a:prstGeom prst="rect">
            <a:avLst/>
          </a:prstGeom>
          <a:solidFill>
            <a:srgbClr val="BBBBBB">
              <a:alpha val="35000"/>
            </a:srgbClr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6208776" y="1170432"/>
            <a:ext cx="2816352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6208776" y="1170432"/>
            <a:ext cx="54864" cy="361188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7168896" y="1298448"/>
            <a:ext cx="868680" cy="86868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7168896" y="129844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6" name="Text 22"/>
          <p:cNvSpPr/>
          <p:nvPr/>
        </p:nvSpPr>
        <p:spPr>
          <a:xfrm>
            <a:off x="6318504" y="226771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6318504" y="2724912"/>
            <a:ext cx="2606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row count report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watermark values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stuck rows as FAILED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exception on any failure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3136392" y="1920240"/>
            <a:ext cx="201168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6080760" y="1920240"/>
            <a:ext cx="201168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320040" y="4690872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source_connection_config — connection registry drives all source routing · no code changes to add new sources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0" y="4974336"/>
            <a:ext cx="6858000" cy="169164"/>
          </a:xfrm>
          <a:prstGeom prst="rect">
            <a:avLst/>
          </a:prstGeom>
          <a:solidFill>
            <a:srgbClr val="1DB89A"/>
          </a:solidFill>
          <a:ln w="12700">
            <a:solidFill>
              <a:srgbClr val="1D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858000" y="4974336"/>
            <a:ext cx="2286000" cy="169164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09728" y="4974336"/>
            <a:ext cx="3200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velytics_unpacked/ppt/media/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home/claude/lovelytics_unpacked/ppt/media/image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64592"/>
            <a:ext cx="1691640" cy="32735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20040" y="164592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Flexible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320040" y="73152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design — extend without touching code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320040" y="1042416"/>
            <a:ext cx="8503920" cy="20117"/>
          </a:xfrm>
          <a:prstGeom prst="rect">
            <a:avLst/>
          </a:prstGeom>
          <a:solidFill>
            <a:srgbClr val="1DB89A"/>
          </a:solidFill>
          <a:ln w="12700">
            <a:solidFill>
              <a:srgbClr val="1D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356616" y="1207008"/>
            <a:ext cx="4251960" cy="1152144"/>
          </a:xfrm>
          <a:prstGeom prst="rect">
            <a:avLst/>
          </a:prstGeom>
          <a:solidFill>
            <a:srgbClr val="BBBBBB">
              <a:alpha val="35000"/>
            </a:srgbClr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320040" y="1170432"/>
            <a:ext cx="4251960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320040" y="1170432"/>
            <a:ext cx="54864" cy="1152144"/>
          </a:xfrm>
          <a:prstGeom prst="rect">
            <a:avLst/>
          </a:prstGeom>
          <a:solidFill>
            <a:srgbClr val="1DB89A"/>
          </a:solidFill>
          <a:ln w="12700">
            <a:solidFill>
              <a:srgbClr val="1D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41732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8408" y="1225296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changes to add sources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978408" y="1572768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new SQL Server, Oracle, or Salesforce instance with a single INSERT into the connection registry.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4809744" y="1207008"/>
            <a:ext cx="4251960" cy="1152144"/>
          </a:xfrm>
          <a:prstGeom prst="rect">
            <a:avLst/>
          </a:prstGeom>
          <a:solidFill>
            <a:srgbClr val="BBBBBB">
              <a:alpha val="35000"/>
            </a:srgbClr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4773168" y="1170432"/>
            <a:ext cx="4251960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4773168" y="1170432"/>
            <a:ext cx="54864" cy="1152144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141732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31536" y="1225296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changes to add tables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5431536" y="1572768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in table_migration_config gets the correct load pattern at runtime. Add hundreds of tables — dispatcher handles them all.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56616" y="2468880"/>
            <a:ext cx="4251960" cy="1152144"/>
          </a:xfrm>
          <a:prstGeom prst="rect">
            <a:avLst/>
          </a:prstGeom>
          <a:solidFill>
            <a:srgbClr val="BBBBBB">
              <a:alpha val="35000"/>
            </a:srgbClr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320040" y="2432304"/>
            <a:ext cx="4251960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320040" y="2432304"/>
            <a:ext cx="54864" cy="1152144"/>
          </a:xfrm>
          <a:prstGeom prst="rect">
            <a:avLst/>
          </a:prstGeom>
          <a:solidFill>
            <a:srgbClr val="1DB89A"/>
          </a:solidFill>
          <a:ln w="12700">
            <a:solidFill>
              <a:srgbClr val="1D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2679192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78408" y="2487168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agnostic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978408" y="2834640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Workflows, Apache Airflow, ADF, or a manual run all drive the same notebooks identically.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4809744" y="2468880"/>
            <a:ext cx="4251960" cy="1152144"/>
          </a:xfrm>
          <a:prstGeom prst="rect">
            <a:avLst/>
          </a:prstGeom>
          <a:solidFill>
            <a:srgbClr val="BBBBBB">
              <a:alpha val="35000"/>
            </a:srgbClr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4773168" y="2432304"/>
            <a:ext cx="4251960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4773168" y="2432304"/>
            <a:ext cx="54864" cy="1152144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4608" y="2679192"/>
            <a:ext cx="457200" cy="4572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431536" y="2487168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load patterns instantly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5431536" y="2834640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overwrite to incremental merge with a single UPDATE. No notebook changes, no redeployment.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356616" y="3730752"/>
            <a:ext cx="4251960" cy="1152144"/>
          </a:xfrm>
          <a:prstGeom prst="rect">
            <a:avLst/>
          </a:prstGeom>
          <a:solidFill>
            <a:srgbClr val="BBBBBB">
              <a:alpha val="35000"/>
            </a:srgbClr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>
            <a:off x="320040" y="3694176"/>
            <a:ext cx="4251960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5"/>
          <p:cNvSpPr/>
          <p:nvPr/>
        </p:nvSpPr>
        <p:spPr>
          <a:xfrm>
            <a:off x="320040" y="3694176"/>
            <a:ext cx="54864" cy="1152144"/>
          </a:xfrm>
          <a:prstGeom prst="rect">
            <a:avLst/>
          </a:prstGeom>
          <a:solidFill>
            <a:srgbClr val="1DB89A"/>
          </a:solidFill>
          <a:ln w="12700">
            <a:solidFill>
              <a:srgbClr val="1D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480" y="3941064"/>
            <a:ext cx="457200" cy="45720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78408" y="374904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portable</a:t>
            </a:r>
            <a:endParaRPr lang="en-US" sz="1300" dirty="0"/>
          </a:p>
        </p:txBody>
      </p:sp>
      <p:sp>
        <p:nvSpPr>
          <p:cNvPr id="36" name="Text 27"/>
          <p:cNvSpPr/>
          <p:nvPr/>
        </p:nvSpPr>
        <p:spPr>
          <a:xfrm>
            <a:off x="978408" y="4096512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widget parameters move the framework to a new catalog or schema. One notebook recreates all tables and seed data.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4809744" y="3730752"/>
            <a:ext cx="4251960" cy="1152144"/>
          </a:xfrm>
          <a:prstGeom prst="rect">
            <a:avLst/>
          </a:prstGeom>
          <a:solidFill>
            <a:srgbClr val="BBBBBB">
              <a:alpha val="35000"/>
            </a:srgbClr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29"/>
          <p:cNvSpPr/>
          <p:nvPr/>
        </p:nvSpPr>
        <p:spPr>
          <a:xfrm>
            <a:off x="4773168" y="3694176"/>
            <a:ext cx="4251960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0"/>
          <p:cNvSpPr/>
          <p:nvPr/>
        </p:nvSpPr>
        <p:spPr>
          <a:xfrm>
            <a:off x="4773168" y="3694176"/>
            <a:ext cx="54864" cy="1152144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4608" y="3941064"/>
            <a:ext cx="457200" cy="45720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431536" y="374904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source workflows</a:t>
            </a:r>
            <a:endParaRPr lang="en-US" sz="1300" dirty="0"/>
          </a:p>
        </p:txBody>
      </p:sp>
      <p:sp>
        <p:nvSpPr>
          <p:cNvPr id="42" name="Text 32"/>
          <p:cNvSpPr/>
          <p:nvPr/>
        </p:nvSpPr>
        <p:spPr>
          <a:xfrm>
            <a:off x="5431536" y="4096512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workflow run can load Snowflake, PostgreSQL, and Volume files simultaneously with priority-tier ordering.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0" y="4974336"/>
            <a:ext cx="6858000" cy="169164"/>
          </a:xfrm>
          <a:prstGeom prst="rect">
            <a:avLst/>
          </a:prstGeom>
          <a:solidFill>
            <a:srgbClr val="1DB89A"/>
          </a:solidFill>
          <a:ln w="12700">
            <a:solidFill>
              <a:srgbClr val="1D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4"/>
          <p:cNvSpPr/>
          <p:nvPr/>
        </p:nvSpPr>
        <p:spPr>
          <a:xfrm>
            <a:off x="6858000" y="4974336"/>
            <a:ext cx="2286000" cy="169164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5"/>
          <p:cNvSpPr/>
          <p:nvPr/>
        </p:nvSpPr>
        <p:spPr>
          <a:xfrm>
            <a:off x="109728" y="4974336"/>
            <a:ext cx="3200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velytics_unpacked/ppt/media/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home/claude/lovelytics_unpacked/ppt/media/image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64592"/>
            <a:ext cx="1691640" cy="4206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20040" y="164592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Validation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320040" y="73152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across four process groups using Databricks samples and Neon PostgreSQL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320040" y="1042416"/>
            <a:ext cx="8503920" cy="20117"/>
          </a:xfrm>
          <a:prstGeom prst="rect">
            <a:avLst/>
          </a:prstGeom>
          <a:solidFill>
            <a:srgbClr val="1DB89A"/>
          </a:solidFill>
          <a:ln w="12700">
            <a:solidFill>
              <a:srgbClr val="1D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356616" y="1207008"/>
            <a:ext cx="8503920" cy="786384"/>
          </a:xfrm>
          <a:prstGeom prst="rect">
            <a:avLst/>
          </a:prstGeom>
          <a:solidFill>
            <a:srgbClr val="BBBBBB">
              <a:alpha val="35000"/>
            </a:srgbClr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320040" y="1170432"/>
            <a:ext cx="85039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320040" y="1170432"/>
            <a:ext cx="54864" cy="786384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374904" y="1335024"/>
            <a:ext cx="2331720" cy="4572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374904" y="133502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TPCH_foreign_catalog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834640" y="122529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tables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834640" y="157276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· nation · customer · supplier · part · partsupp · orders · lineitem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7315200" y="137160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overwrite + incremental merge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56616" y="2103120"/>
            <a:ext cx="8503920" cy="786384"/>
          </a:xfrm>
          <a:prstGeom prst="rect">
            <a:avLst/>
          </a:prstGeom>
          <a:solidFill>
            <a:srgbClr val="BBBBBB">
              <a:alpha val="35000"/>
            </a:srgbClr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20040" y="2066544"/>
            <a:ext cx="85039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320040" y="2066544"/>
            <a:ext cx="54864" cy="786384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74904" y="2231136"/>
            <a:ext cx="2331720" cy="4572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374904" y="223113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PG_NEON_jdbc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2834640" y="21214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table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2834640" y="246888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supplier_pg — Neon PostgreSQL via UC foreign catalog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7315200" y="226771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merge on updated_at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56616" y="2999232"/>
            <a:ext cx="8503920" cy="786384"/>
          </a:xfrm>
          <a:prstGeom prst="rect">
            <a:avLst/>
          </a:prstGeom>
          <a:solidFill>
            <a:srgbClr val="BBBBBB">
              <a:alpha val="35000"/>
            </a:srgbClr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320040" y="2962656"/>
            <a:ext cx="85039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320040" y="2962656"/>
            <a:ext cx="54864" cy="786384"/>
          </a:xfrm>
          <a:prstGeom prst="rect">
            <a:avLst/>
          </a:prstGeom>
          <a:solidFill>
            <a:srgbClr val="1DB89A"/>
          </a:solidFill>
          <a:ln w="12700">
            <a:solidFill>
              <a:srgbClr val="1D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374904" y="3127248"/>
            <a:ext cx="2331720" cy="457200"/>
          </a:xfrm>
          <a:prstGeom prst="rect">
            <a:avLst/>
          </a:prstGeom>
          <a:solidFill>
            <a:srgbClr val="1DB89A"/>
          </a:solidFill>
          <a:ln w="12700">
            <a:solidFill>
              <a:srgbClr val="1D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374904" y="31272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TPCH_autoloader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2834640" y="30175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tables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2834640" y="3364992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· nation — CSV files in UC Volume /Volumes landing zone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7315200" y="316382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1D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Autoloader availableNow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356616" y="3895344"/>
            <a:ext cx="8503920" cy="786384"/>
          </a:xfrm>
          <a:prstGeom prst="rect">
            <a:avLst/>
          </a:prstGeom>
          <a:solidFill>
            <a:srgbClr val="BBBBBB">
              <a:alpha val="35000"/>
            </a:srgbClr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320040" y="3858768"/>
            <a:ext cx="85039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320040" y="3858768"/>
            <a:ext cx="54864" cy="786384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374904" y="4023360"/>
            <a:ext cx="2331720" cy="45720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374904" y="4023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VOLUME_copy_into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2834640" y="39136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table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2834640" y="426110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lineitem — Parquet files in UC Volume via COPY INTO Delta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7315200" y="405993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copy_into from UC Volume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320040" y="470916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to TPC-DS schema (samples.tpcds_sf1) with zero code changes — added via config table INSERT only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0" y="4974336"/>
            <a:ext cx="6858000" cy="169164"/>
          </a:xfrm>
          <a:prstGeom prst="rect">
            <a:avLst/>
          </a:prstGeom>
          <a:solidFill>
            <a:srgbClr val="1DB89A"/>
          </a:solidFill>
          <a:ln w="12700">
            <a:solidFill>
              <a:srgbClr val="1D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7"/>
          <p:cNvSpPr/>
          <p:nvPr/>
        </p:nvSpPr>
        <p:spPr>
          <a:xfrm>
            <a:off x="6858000" y="4974336"/>
            <a:ext cx="2286000" cy="169164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109728" y="4974336"/>
            <a:ext cx="3200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velytics_unpacked/ppt/media/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home/claude/lovelytics_unpacked/ppt/media/image2.png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5303520" y="365760"/>
            <a:ext cx="4114800" cy="3657600"/>
          </a:xfrm>
          <a:prstGeom prst="rect">
            <a:avLst/>
          </a:prstGeom>
        </p:spPr>
      </p:pic>
      <p:pic>
        <p:nvPicPr>
          <p:cNvPr id="4" name="Image 2" descr="/home/claude/lovelytics_unpacked/ppt/media/image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01168"/>
            <a:ext cx="1828800" cy="33005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65760" y="8229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i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Config Table.</a:t>
            </a:r>
            <a:endParaRPr lang="en-US" sz="4800" dirty="0"/>
          </a:p>
        </p:txBody>
      </p:sp>
      <p:sp>
        <p:nvSpPr>
          <p:cNvPr id="6" name="Text 1"/>
          <p:cNvSpPr/>
          <p:nvPr/>
        </p:nvSpPr>
        <p:spPr>
          <a:xfrm>
            <a:off x="365760" y="171907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Load Patterns.   Six Connection Types.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365760" y="248716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any source. Add any table. Change any load pattern.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changes. Just SQL.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502920" y="3310128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D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200" dirty="0"/>
          </a:p>
        </p:txBody>
      </p:sp>
      <p:sp>
        <p:nvSpPr>
          <p:cNvPr id="9" name="Text 4"/>
          <p:cNvSpPr/>
          <p:nvPr/>
        </p:nvSpPr>
        <p:spPr>
          <a:xfrm>
            <a:off x="502920" y="426110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modes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3291840" y="3310128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D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200" dirty="0"/>
          </a:p>
        </p:txBody>
      </p:sp>
      <p:sp>
        <p:nvSpPr>
          <p:cNvPr id="11" name="Text 6"/>
          <p:cNvSpPr/>
          <p:nvPr/>
        </p:nvSpPr>
        <p:spPr>
          <a:xfrm>
            <a:off x="3291840" y="426110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080760" y="3310128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D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200" dirty="0"/>
          </a:p>
        </p:txBody>
      </p:sp>
      <p:sp>
        <p:nvSpPr>
          <p:cNvPr id="13" name="Text 8"/>
          <p:cNvSpPr/>
          <p:nvPr/>
        </p:nvSpPr>
        <p:spPr>
          <a:xfrm>
            <a:off x="6080760" y="426110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changes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67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new source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0" y="4974336"/>
            <a:ext cx="6858000" cy="169164"/>
          </a:xfrm>
          <a:prstGeom prst="rect">
            <a:avLst/>
          </a:prstGeom>
          <a:solidFill>
            <a:srgbClr val="1DB89A"/>
          </a:solidFill>
          <a:ln w="12700">
            <a:solidFill>
              <a:srgbClr val="1DB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6858000" y="4974336"/>
            <a:ext cx="2286000" cy="169164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109728" y="4974336"/>
            <a:ext cx="3200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834</Words>
  <Application>Microsoft Macintosh PowerPoint</Application>
  <PresentationFormat>On-screen Show (16:9)</PresentationFormat>
  <Paragraphs>148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Databricks Ingestion Framework POC</dc:title>
  <dc:subject>PptxGenJS Presentation</dc:subject>
  <dc:creator>Tracy Anderson</dc:creator>
  <cp:lastModifiedBy>Tracy Anderson</cp:lastModifiedBy>
  <cp:revision>2</cp:revision>
  <dcterms:created xsi:type="dcterms:W3CDTF">2026-04-27T17:05:48Z</dcterms:created>
  <dcterms:modified xsi:type="dcterms:W3CDTF">2026-04-27T17:35:04Z</dcterms:modified>
</cp:coreProperties>
</file>